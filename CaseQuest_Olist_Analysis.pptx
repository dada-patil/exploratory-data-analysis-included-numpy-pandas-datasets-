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Order Status Distribution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delivered</c:v>
                </c:pt>
                <c:pt idx="1">
                  <c:v>shipped</c:v>
                </c:pt>
                <c:pt idx="2">
                  <c:v>canceled</c:v>
                </c:pt>
                <c:pt idx="3">
                  <c:v>unavailable</c:v>
                </c:pt>
                <c:pt idx="4">
                  <c:v>invoiced</c:v>
                </c:pt>
                <c:pt idx="5">
                  <c:v>processing</c:v>
                </c:pt>
                <c:pt idx="6">
                  <c:v>created</c:v>
                </c:pt>
                <c:pt idx="7">
                  <c:v>approved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96478</c:v>
                </c:pt>
                <c:pt idx="1">
                  <c:v>1107</c:v>
                </c:pt>
                <c:pt idx="2">
                  <c:v>625</c:v>
                </c:pt>
                <c:pt idx="3">
                  <c:v>609</c:v>
                </c:pt>
                <c:pt idx="4">
                  <c:v>314</c:v>
                </c:pt>
                <c:pt idx="5">
                  <c:v>301</c:v>
                </c:pt>
                <c:pt idx="6">
                  <c:v>5</c:v>
                </c:pt>
                <c:pt idx="7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Delivered Orders by Delivery Time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≤3</c:v>
                </c:pt>
                <c:pt idx="1">
                  <c:v>4–7</c:v>
                </c:pt>
                <c:pt idx="2">
                  <c:v>8–14</c:v>
                </c:pt>
                <c:pt idx="3">
                  <c:v>15–21</c:v>
                </c:pt>
                <c:pt idx="4">
                  <c:v>22–30</c:v>
                </c:pt>
                <c:pt idx="5">
                  <c:v>&gt;30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4753</c:v>
                </c:pt>
                <c:pt idx="1">
                  <c:v>21293</c:v>
                </c:pt>
                <c:pt idx="2">
                  <c:v>40215</c:v>
                </c:pt>
                <c:pt idx="3">
                  <c:v>17713</c:v>
                </c:pt>
                <c:pt idx="4">
                  <c:v>7949</c:v>
                </c:pt>
                <c:pt idx="5">
                  <c:v>4553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Review Score Distribution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11424</c:v>
                </c:pt>
                <c:pt idx="1">
                  <c:v>3151</c:v>
                </c:pt>
                <c:pt idx="2">
                  <c:v>8179</c:v>
                </c:pt>
                <c:pt idx="3">
                  <c:v>19142</c:v>
                </c:pt>
                <c:pt idx="4">
                  <c:v>57328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Average Review Score by Delivery Performance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On Time</c:v>
                </c:pt>
                <c:pt idx="1">
                  <c:v>Late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4.214306786272303</c:v>
                </c:pt>
                <c:pt idx="1">
                  <c:v>2.566549798727438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CASEQUEST — OLIST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0"/>
            <a:ext cx="101498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FF6B6B"/>
                </a:solidFill>
              </a:defRPr>
            </a:pPr>
            <a:r>
              <a:t>Business Performance &amp; Customer Satisfaction</a:t>
            </a:r>
          </a:p>
          <a:p>
            <a:pPr algn="ctr">
              <a:defRPr sz="1700">
                <a:solidFill>
                  <a:srgbClr val="FFFFFF"/>
                </a:solidFill>
              </a:defRPr>
            </a:pPr>
            <a:r>
              <a:t>Data → KPIs → Analysis → Insights →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12064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Olist Orders • Order Items • Reviews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1A2E"/>
                </a:solidFill>
              </a:defRPr>
            </a:pPr>
            <a:r>
              <a:t>1.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A2E"/>
                </a:solidFill>
              </a:defRPr>
            </a:pPr>
            <a:r>
              <a:t>• Understand the drivers of marketplace business performance and customer satisfaction.</a:t>
            </a:r>
          </a:p>
          <a:p>
            <a:pPr>
              <a:spcAft>
                <a:spcPts val="1200"/>
              </a:spcAft>
              <a:defRPr sz="1800">
                <a:solidFill>
                  <a:srgbClr val="1A1A2E"/>
                </a:solidFill>
              </a:defRPr>
            </a:pPr>
            <a:r>
              <a:t>• Identify commercially meaningful opportunities and operational risks.</a:t>
            </a:r>
          </a:p>
          <a:p>
            <a:pPr>
              <a:spcAft>
                <a:spcPts val="1200"/>
              </a:spcAft>
              <a:defRPr sz="1800">
                <a:solidFill>
                  <a:srgbClr val="1A1A2E"/>
                </a:solidFill>
              </a:defRPr>
            </a:pPr>
            <a:r>
              <a:t>• Quantify important patterns using reproducible KPIs.</a:t>
            </a:r>
          </a:p>
          <a:p>
            <a:pPr>
              <a:spcAft>
                <a:spcPts val="1200"/>
              </a:spcAft>
              <a:defRPr sz="1800">
                <a:solidFill>
                  <a:srgbClr val="1A1A2E"/>
                </a:solidFill>
              </a:defRPr>
            </a:pPr>
            <a:r>
              <a:t>• Translate evidence into specific, actionable business recommendations.</a:t>
            </a:r>
          </a:p>
          <a:p>
            <a:pPr>
              <a:spcAft>
                <a:spcPts val="1200"/>
              </a:spcAft>
              <a:defRPr sz="1800">
                <a:solidFill>
                  <a:srgbClr val="1A1A2E"/>
                </a:solidFill>
              </a:defRPr>
            </a:pPr>
            <a:r>
              <a:t>• Focus on strong, connected insights rather than disconnected charts.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1A2E"/>
                </a:solidFill>
              </a:defRPr>
            </a:pPr>
            <a:r>
              <a:t>2. Data &amp; Analytical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2743200" cy="1325880"/>
          </a:xfrm>
          <a:prstGeom prst="roundRect">
            <a:avLst/>
          </a:prstGeom>
          <a:solidFill>
            <a:srgbClr val="A3DA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90472"/>
            <a:ext cx="246888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99,441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Orders rows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1325880"/>
            <a:ext cx="2743200" cy="1325880"/>
          </a:xfrm>
          <a:prstGeom prst="roundRect">
            <a:avLst/>
          </a:prstGeom>
          <a:solidFill>
            <a:srgbClr val="FFDFB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490472"/>
            <a:ext cx="246888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112,650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Order-items rows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25880"/>
            <a:ext cx="2743200" cy="1325880"/>
          </a:xfrm>
          <a:prstGeom prst="roundRect">
            <a:avLst/>
          </a:prstGeom>
          <a:solidFill>
            <a:srgbClr val="A8E6C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490472"/>
            <a:ext cx="246888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99,224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Review rows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4040" y="1325880"/>
            <a:ext cx="2148840" cy="1325880"/>
          </a:xfrm>
          <a:prstGeom prst="roundRect">
            <a:avLst/>
          </a:prstGeom>
          <a:solidFill>
            <a:srgbClr val="FF6B6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0" y="1490472"/>
            <a:ext cx="187452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99,441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Unique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• Orders: order status and purchase / delivery timestamps.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• Items: products, sellers, prices and freight values.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• Reviews: review scores and customer feedback fields.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• Order-item data is aggregated to order level before joining, preventing monetary duplication.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1A2E"/>
                </a:solidFill>
              </a:defRPr>
            </a:pPr>
            <a:r>
              <a:t>3. KPI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670"/>
                </a:solidFill>
              </a:defRPr>
            </a:pPr>
            <a:r>
              <a:t>Calculated directly from the uploaded Olist datasets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2560320" cy="1325880"/>
          </a:xfrm>
          <a:prstGeom prst="roundRect">
            <a:avLst/>
          </a:prstGeom>
          <a:solidFill>
            <a:srgbClr val="A3DA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1"/>
            <a:ext cx="228600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99,441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Total orders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280160"/>
            <a:ext cx="2560320" cy="1325880"/>
          </a:xfrm>
          <a:prstGeom prst="roundRect">
            <a:avLst/>
          </a:prstGeom>
          <a:solidFill>
            <a:srgbClr val="A8E6C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79" y="1444751"/>
            <a:ext cx="228600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96,478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Delivered orders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280160"/>
            <a:ext cx="2560320" cy="1325880"/>
          </a:xfrm>
          <a:prstGeom prst="roundRect">
            <a:avLst/>
          </a:prstGeom>
          <a:solidFill>
            <a:srgbClr val="FF6B6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444751"/>
            <a:ext cx="228600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8.1%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Late delivery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1280160"/>
            <a:ext cx="2560320" cy="1325880"/>
          </a:xfrm>
          <a:prstGeom prst="roundRect">
            <a:avLst/>
          </a:prstGeom>
          <a:solidFill>
            <a:srgbClr val="FFDFB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1444751"/>
            <a:ext cx="228600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4.09/5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Avg review 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71800"/>
            <a:ext cx="2560320" cy="1325880"/>
          </a:xfrm>
          <a:prstGeom prst="roundRect">
            <a:avLst/>
          </a:prstGeom>
          <a:solidFill>
            <a:srgbClr val="A3DA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36392"/>
            <a:ext cx="228600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R$ 13.59M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Total product 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2971800"/>
            <a:ext cx="2560320" cy="1325880"/>
          </a:xfrm>
          <a:prstGeom prst="roundRect">
            <a:avLst/>
          </a:prstGeom>
          <a:solidFill>
            <a:srgbClr val="FFDFB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79" y="3136392"/>
            <a:ext cx="228600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R$ 2.25M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Total freight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2971800"/>
            <a:ext cx="2560320" cy="1325880"/>
          </a:xfrm>
          <a:prstGeom prst="roundRect">
            <a:avLst/>
          </a:prstGeom>
          <a:solidFill>
            <a:srgbClr val="A8E6C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3136392"/>
            <a:ext cx="228600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R$ 160.58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Avg order value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2971800"/>
            <a:ext cx="2560320" cy="1325880"/>
          </a:xfrm>
          <a:prstGeom prst="roundRect">
            <a:avLst/>
          </a:prstGeom>
          <a:solidFill>
            <a:srgbClr val="FF6B6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3136392"/>
            <a:ext cx="228600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14.7%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Negative reviews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091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A1A2E"/>
                </a:solidFill>
              </a:defRPr>
            </a:pPr>
            <a:r>
              <a:t>• Median delivery time: 10.2 days; mean delivery time: 12.6 days.</a:t>
            </a:r>
          </a:p>
          <a:p>
            <a:pPr>
              <a:spcAft>
                <a:spcPts val="1200"/>
              </a:spcAft>
              <a:defRPr sz="1400">
                <a:solidFill>
                  <a:srgbClr val="1A1A2E"/>
                </a:solidFill>
              </a:defRPr>
            </a:pPr>
            <a:r>
              <a:t>• Freight is 16.6% of product value in aggregate.</a:t>
            </a:r>
          </a:p>
          <a:p>
            <a:pPr>
              <a:spcAft>
                <a:spcPts val="1200"/>
              </a:spcAft>
              <a:defRPr sz="1400">
                <a:solidFill>
                  <a:srgbClr val="1A1A2E"/>
                </a:solidFill>
              </a:defRPr>
            </a:pPr>
            <a:r>
              <a:t>• Canceled orders account for 0.63% of all orders.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1A2E"/>
                </a:solidFill>
              </a:defRPr>
            </a:pPr>
            <a:r>
              <a:t>4. Order Status &amp; Operational Performance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234440"/>
          <a:ext cx="54864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41732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• Delivered orders: 96,478.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• Canceled orders: 625 (0.63% of all orders).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• Among delivered orders, 8.1% were later than the estimated delivery date.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• Operational analysis should distinguish delivery speed from delivery punctuality.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1A2E"/>
                </a:solidFill>
              </a:defRPr>
            </a:pPr>
            <a:r>
              <a:t>5. Delivery Performance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234440"/>
          <a:ext cx="54864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41732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• Average delivery time: 12.6 days.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• Median delivery time: 10.2 days.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• Late delivery rate: 8.1% of delivered orders.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• The gap between delivery duration and promised delivery date is a key operational KPI.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1A2E"/>
                </a:solidFill>
              </a:defRPr>
            </a:pPr>
            <a:r>
              <a:t>6. Commercial Economics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2743200" cy="1371600"/>
          </a:xfrm>
          <a:prstGeom prst="roundRect">
            <a:avLst/>
          </a:prstGeom>
          <a:solidFill>
            <a:srgbClr val="A3DA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90472"/>
            <a:ext cx="246888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R$ 13.59M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Product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325880"/>
            <a:ext cx="2743200" cy="1371600"/>
          </a:xfrm>
          <a:prstGeom prst="roundRect">
            <a:avLst/>
          </a:prstGeom>
          <a:solidFill>
            <a:srgbClr val="FFDFB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1490472"/>
            <a:ext cx="246888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R$ 2.25M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Freight 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325880"/>
            <a:ext cx="2743200" cy="1371600"/>
          </a:xfrm>
          <a:prstGeom prst="roundRect">
            <a:avLst/>
          </a:prstGeom>
          <a:solidFill>
            <a:srgbClr val="A8E6C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490472"/>
            <a:ext cx="246888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R$ 15.84M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Total order 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1325880"/>
            <a:ext cx="2011680" cy="1371600"/>
          </a:xfrm>
          <a:prstGeom prst="roundRect">
            <a:avLst/>
          </a:prstGeom>
          <a:solidFill>
            <a:srgbClr val="FF6B6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46920" y="1490472"/>
            <a:ext cx="173736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16.6%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Freight / product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A1A2E"/>
                </a:solidFill>
              </a:defRPr>
            </a:pPr>
            <a:r>
              <a:t>• Mean order value: R$ 160.58.</a:t>
            </a:r>
          </a:p>
          <a:p>
            <a:pPr>
              <a:spcAft>
                <a:spcPts val="1200"/>
              </a:spcAft>
              <a:defRPr sz="1700">
                <a:solidFill>
                  <a:srgbClr val="1A1A2E"/>
                </a:solidFill>
              </a:defRPr>
            </a:pPr>
            <a:r>
              <a:t>• Median order value: R$ 105.29.</a:t>
            </a:r>
          </a:p>
          <a:p>
            <a:pPr>
              <a:spcAft>
                <a:spcPts val="1200"/>
              </a:spcAft>
              <a:defRPr sz="1700">
                <a:solidFill>
                  <a:srgbClr val="1A1A2E"/>
                </a:solidFill>
              </a:defRPr>
            </a:pPr>
            <a:r>
              <a:t>• Freight burden should be examined by product/category/seller or other available commercial segments.</a:t>
            </a:r>
          </a:p>
          <a:p>
            <a:pPr>
              <a:spcAft>
                <a:spcPts val="1200"/>
              </a:spcAft>
              <a:defRPr sz="1700">
                <a:solidFill>
                  <a:srgbClr val="1A1A2E"/>
                </a:solidFill>
              </a:defRPr>
            </a:pPr>
            <a:r>
              <a:t>• Mean and median should both be considered because monetary variables can be skewed.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1A2E"/>
                </a:solidFill>
              </a:defRPr>
            </a:pPr>
            <a:r>
              <a:t>7. Customer Satisfaction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234440"/>
          <a:ext cx="54864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41732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• Average review score: 4.09/5.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• Positive reviews (4–5): 77.1%.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• Negative reviews (1–2): 14.7%.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• Review scores provide the primary customer-satisfaction signal in the supplied core datasets.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1A2E"/>
                </a:solidFill>
              </a:defRPr>
            </a:pPr>
            <a:r>
              <a:t>8. Delivery Experience vs Customer Satisfaction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325880"/>
          <a:ext cx="56692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29400" y="14173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A1A2E"/>
                </a:solidFill>
              </a:defRPr>
            </a:pPr>
            <a:r>
              <a:t>• Average review score — On Time: 4.21/5.</a:t>
            </a:r>
          </a:p>
          <a:p>
            <a:pPr>
              <a:spcAft>
                <a:spcPts val="1200"/>
              </a:spcAft>
              <a:defRPr sz="1500">
                <a:solidFill>
                  <a:srgbClr val="1A1A2E"/>
                </a:solidFill>
              </a:defRPr>
            </a:pPr>
            <a:r>
              <a:t>• Average review score — Late: 2.57/5.</a:t>
            </a:r>
          </a:p>
          <a:p>
            <a:pPr>
              <a:spcAft>
                <a:spcPts val="1200"/>
              </a:spcAft>
              <a:defRPr sz="1500">
                <a:solidFill>
                  <a:srgbClr val="1A1A2E"/>
                </a:solidFill>
              </a:defRPr>
            </a:pPr>
            <a:r>
              <a:t>• This comparison describes an association in the observed data; it does not by itself establish causation.</a:t>
            </a:r>
          </a:p>
          <a:p>
            <a:pPr>
              <a:spcAft>
                <a:spcPts val="1200"/>
              </a:spcAft>
              <a:defRPr sz="1500">
                <a:solidFill>
                  <a:srgbClr val="1A1A2E"/>
                </a:solidFill>
              </a:defRPr>
            </a:pPr>
            <a:r>
              <a:t>• The gap can guide deeper investigation into late-delivery segments and customer experience.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1A2E"/>
                </a:solidFill>
              </a:defRPr>
            </a:pPr>
            <a:r>
              <a:t>9. Key Business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383280" cy="1051560"/>
          </a:xfrm>
          <a:prstGeom prst="roundRect">
            <a:avLst/>
          </a:prstGeom>
          <a:solidFill>
            <a:srgbClr val="A3DA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99032"/>
            <a:ext cx="3108960" cy="7772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Operations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Insight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A1A2E"/>
                </a:solidFill>
              </a:defRPr>
            </a:pPr>
            <a:r>
              <a:t>• Late delivery is measurable at 8.1% among delivered orders.</a:t>
            </a:r>
          </a:p>
          <a:p>
            <a:pPr>
              <a:spcAft>
                <a:spcPts val="1200"/>
              </a:spcAft>
              <a:defRPr sz="1400">
                <a:solidFill>
                  <a:srgbClr val="1A1A2E"/>
                </a:solidFill>
              </a:defRPr>
            </a:pPr>
            <a:r>
              <a:t>• Delivery punctuality should be monitored separately from raw delivery duration.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34440"/>
            <a:ext cx="3383280" cy="1051560"/>
          </a:xfrm>
          <a:prstGeom prst="roundRect">
            <a:avLst/>
          </a:prstGeom>
          <a:solidFill>
            <a:srgbClr val="FFDFB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399032"/>
            <a:ext cx="3108960" cy="7772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Economics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Insight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42316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A1A2E"/>
                </a:solidFill>
              </a:defRPr>
            </a:pPr>
            <a:r>
              <a:t>• Aggregate freight equals 16.6% of product value.</a:t>
            </a:r>
          </a:p>
          <a:p>
            <a:pPr>
              <a:spcAft>
                <a:spcPts val="1200"/>
              </a:spcAft>
              <a:defRPr sz="1400">
                <a:solidFill>
                  <a:srgbClr val="1A1A2E"/>
                </a:solidFill>
              </a:defRPr>
            </a:pPr>
            <a:r>
              <a:t>• Freight burden should be segmented to locate high-cost patterns.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34440"/>
            <a:ext cx="3383280" cy="1051560"/>
          </a:xfrm>
          <a:prstGeom prst="roundRect">
            <a:avLst/>
          </a:prstGeom>
          <a:solidFill>
            <a:srgbClr val="A8E6C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399032"/>
            <a:ext cx="3108960" cy="7772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A1A2E"/>
                </a:solidFill>
              </a:defRPr>
            </a:pPr>
            <a:r>
              <a:t>Customer</a:t>
            </a:r>
          </a:p>
          <a:p>
            <a:pPr algn="ctr">
              <a:defRPr sz="1100">
                <a:solidFill>
                  <a:srgbClr val="5A6670"/>
                </a:solidFill>
              </a:defRPr>
            </a:pPr>
            <a:r>
              <a:t>Insight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42316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A1A2E"/>
                </a:solidFill>
              </a:defRPr>
            </a:pPr>
            <a:r>
              <a:t>• Average customer rating is 4.09/5.</a:t>
            </a:r>
          </a:p>
          <a:p>
            <a:pPr>
              <a:spcAft>
                <a:spcPts val="1200"/>
              </a:spcAft>
              <a:defRPr sz="1400">
                <a:solidFill>
                  <a:srgbClr val="1A1A2E"/>
                </a:solidFill>
              </a:defRPr>
            </a:pPr>
            <a:r>
              <a:t>• Compare satisfaction across operational conditions to identify experience risks.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1A2E"/>
                </a:solidFill>
              </a:defRPr>
            </a:pPr>
            <a:r>
              <a:t>10.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A2E"/>
                </a:solidFill>
              </a:defRPr>
            </a:pPr>
            <a:r>
              <a:t>• Create an operational watchlist for segments with consistently high late-delivery rates.</a:t>
            </a:r>
          </a:p>
          <a:p>
            <a:pPr>
              <a:spcAft>
                <a:spcPts val="1200"/>
              </a:spcAft>
              <a:defRPr sz="1800">
                <a:solidFill>
                  <a:srgbClr val="1A1A2E"/>
                </a:solidFill>
              </a:defRPr>
            </a:pPr>
            <a:r>
              <a:t>• Investigate high freight-to-product-value orders and identify the products, sellers or regions driving the burden.</a:t>
            </a:r>
          </a:p>
          <a:p>
            <a:pPr>
              <a:spcAft>
                <a:spcPts val="1200"/>
              </a:spcAft>
              <a:defRPr sz="1800">
                <a:solidFill>
                  <a:srgbClr val="1A1A2E"/>
                </a:solidFill>
              </a:defRPr>
            </a:pPr>
            <a:r>
              <a:t>• Use customer review scores as an experience KPI alongside delivery punctuality.</a:t>
            </a:r>
          </a:p>
          <a:p>
            <a:pPr>
              <a:spcAft>
                <a:spcPts val="1200"/>
              </a:spcAft>
              <a:defRPr sz="1800">
                <a:solidFill>
                  <a:srgbClr val="1A1A2E"/>
                </a:solidFill>
              </a:defRPr>
            </a:pPr>
            <a:r>
              <a:t>• Prioritize interventions where operational risk and weaker customer satisfaction overlap.</a:t>
            </a:r>
          </a:p>
          <a:p>
            <a:pPr>
              <a:spcAft>
                <a:spcPts val="1200"/>
              </a:spcAft>
              <a:defRPr sz="1800">
                <a:solidFill>
                  <a:srgbClr val="1A1A2E"/>
                </a:solidFill>
              </a:defRPr>
            </a:pPr>
            <a:r>
              <a:t>• Track the selected KPIs over time so improvements can be measured consistently.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1A2E"/>
                </a:solidFill>
              </a:defRPr>
            </a:pPr>
            <a:r>
              <a:t>11. Limitations &amp;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A1A2E"/>
                </a:solidFill>
              </a:defRPr>
            </a:pPr>
            <a:r>
              <a:t>• The analysis uses the three focused Olist datasets supplied for this case: orders, order items and reviews.</a:t>
            </a:r>
          </a:p>
          <a:p>
            <a:pPr>
              <a:spcAft>
                <a:spcPts val="1200"/>
              </a:spcAft>
              <a:defRPr sz="1700">
                <a:solidFill>
                  <a:srgbClr val="1A1A2E"/>
                </a:solidFill>
              </a:defRPr>
            </a:pPr>
            <a:r>
              <a:t>• Item-level monetary values were aggregated to order level before merging with orders.</a:t>
            </a:r>
          </a:p>
          <a:p>
            <a:pPr>
              <a:spcAft>
                <a:spcPts val="1200"/>
              </a:spcAft>
              <a:defRPr sz="1700">
                <a:solidFill>
                  <a:srgbClr val="1A1A2E"/>
                </a:solidFill>
              </a:defRPr>
            </a:pPr>
            <a:r>
              <a:t>• Delivery analysis is based on records with a customer-delivery timestamp.</a:t>
            </a:r>
          </a:p>
          <a:p>
            <a:pPr>
              <a:spcAft>
                <a:spcPts val="1200"/>
              </a:spcAft>
              <a:defRPr sz="1700">
                <a:solidFill>
                  <a:srgbClr val="1A1A2E"/>
                </a:solidFill>
              </a:defRPr>
            </a:pPr>
            <a:r>
              <a:t>• Review scores measure observed customer feedback and should not be treated as a complete measure of customer sentiment.</a:t>
            </a:r>
          </a:p>
          <a:p>
            <a:pPr>
              <a:spcAft>
                <a:spcPts val="1200"/>
              </a:spcAft>
              <a:defRPr sz="1700">
                <a:solidFill>
                  <a:srgbClr val="1A1A2E"/>
                </a:solidFill>
              </a:defRPr>
            </a:pPr>
            <a:r>
              <a:t>• Associations between variables should not be interpreted as causal effects without an appropriate causal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0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</a:defRPr>
            </a:pPr>
            <a:r>
              <a:t>CASEQUEST — FINAL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377440"/>
            <a:ext cx="101498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400"/>
              </a:spcAft>
              <a:defRPr sz="2100">
                <a:solidFill>
                  <a:srgbClr val="FFFFFF"/>
                </a:solidFill>
              </a:defRPr>
            </a:pPr>
            <a:r>
              <a:t>• Measure the business with a small set of clear KPIs.</a:t>
            </a:r>
          </a:p>
          <a:p>
            <a:pPr algn="ctr">
              <a:spcAft>
                <a:spcPts val="1400"/>
              </a:spcAft>
              <a:defRPr sz="2100">
                <a:solidFill>
                  <a:srgbClr val="FFFFFF"/>
                </a:solidFill>
              </a:defRPr>
            </a:pPr>
            <a:r>
              <a:t>• Connect operational performance to customer experience.</a:t>
            </a:r>
          </a:p>
          <a:p>
            <a:pPr algn="ctr">
              <a:spcAft>
                <a:spcPts val="1400"/>
              </a:spcAft>
              <a:defRPr sz="2100">
                <a:solidFill>
                  <a:srgbClr val="FFFFFF"/>
                </a:solidFill>
              </a:defRPr>
            </a:pPr>
            <a:r>
              <a:t>• Locate commercial cost/value concentrations.</a:t>
            </a:r>
          </a:p>
          <a:p>
            <a:pPr algn="ctr">
              <a:spcAft>
                <a:spcPts val="1400"/>
              </a:spcAft>
              <a:defRPr sz="2100">
                <a:solidFill>
                  <a:srgbClr val="FFFFFF"/>
                </a:solidFill>
              </a:defRPr>
            </a:pPr>
            <a:r>
              <a:t>• Turn evidence into specific actions and validate the impact.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